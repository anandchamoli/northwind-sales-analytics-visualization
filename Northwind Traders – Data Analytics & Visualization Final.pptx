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26"/>
  </p:normalViewPr>
  <p:slideViewPr>
    <p:cSldViewPr snapToGrid="0">
      <p:cViewPr varScale="1">
        <p:scale>
          <a:sx n="155" d="100"/>
          <a:sy n="155" d="100"/>
        </p:scale>
        <p:origin x="192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42cb4c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42cb4c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42cb4cc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42cb4cc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42cb4cc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42cb4cc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e42cb4cc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e42cb4cc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42cb4cc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42cb4cc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e42cb4cc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e42cb4cc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e42cb4cc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e42cb4cc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e42cb4cc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e42cb4cc7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e42cb4cc7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e42cb4cc7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246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 dirty="0"/>
              <a:t>Northwind Traders – Data Analytics &amp; Visualization</a:t>
            </a:r>
            <a:endParaRPr sz="25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686750"/>
            <a:ext cx="8520600" cy="40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Sales Insights from 2021–2023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Date</a:t>
            </a:r>
            <a:r>
              <a:rPr lang="en" sz="1600" dirty="0">
                <a:solidFill>
                  <a:schemeClr val="dk1"/>
                </a:solidFill>
              </a:rPr>
              <a:t>: 07/08/2025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Click="0" advTm="300"/>
    </mc:Choice>
    <mc:Fallback xmlns="">
      <p:transition advClick="0" advTm="3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Summary: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93% of 2023 revenue came from repeat customers</a:t>
            </a:r>
            <a:r>
              <a:rPr lang="en" sz="1600">
                <a:solidFill>
                  <a:schemeClr val="dk1"/>
                </a:solidFill>
              </a:rPr>
              <a:t>, highlighting strong loyalty but weak acquisition.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High-AOV customers are under-engaged</a:t>
            </a:r>
            <a:r>
              <a:rPr lang="en" sz="1600">
                <a:solidFill>
                  <a:schemeClr val="dk1"/>
                </a:solidFill>
              </a:rPr>
              <a:t>, representing a missed revenue opportunity.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Beverages and Dairy dominate sales</a:t>
            </a:r>
            <a:r>
              <a:rPr lang="en" sz="1600">
                <a:solidFill>
                  <a:schemeClr val="dk1"/>
                </a:solidFill>
              </a:rPr>
              <a:t>, though profitability remains unclear.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Sales peak from May to August</a:t>
            </a:r>
            <a:r>
              <a:rPr lang="en" sz="1600">
                <a:solidFill>
                  <a:schemeClr val="dk1"/>
                </a:solidFill>
              </a:rPr>
              <a:t>, revealing a seasonal opportunity.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Regional preferences vary significantly</a:t>
            </a:r>
            <a:r>
              <a:rPr lang="en" sz="1600">
                <a:solidFill>
                  <a:schemeClr val="dk1"/>
                </a:solidFill>
              </a:rPr>
              <a:t>, suggesting localization strategies.</a:t>
            </a:r>
            <a:endParaRPr sz="1600"/>
          </a:p>
        </p:txBody>
      </p:sp>
      <p:pic>
        <p:nvPicPr>
          <p:cNvPr id="2" name="Slide 2.m4a">
            <a:hlinkClick r:id="" action="ppaction://media"/>
            <a:extLst>
              <a:ext uri="{FF2B5EF4-FFF2-40B4-BE49-F238E27FC236}">
                <a16:creationId xmlns:a16="http://schemas.microsoft.com/office/drawing/2014/main" id="{BA72A898-4C80-C24F-F910-6C41E47248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65600" y="216535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70" advClick="0" advTm="570"/>
    </mc:Choice>
    <mc:Fallback xmlns="">
      <p:transition spd="med" advClick="0" advTm="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09750" y="22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vs. New Customers: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215400" y="2257275"/>
            <a:ext cx="4665000" cy="14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Revenue share by repeat vs. new customers</a:t>
            </a:r>
            <a:br>
              <a:rPr lang="en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Acquisition dropped 93% from 2021 to 2023</a:t>
            </a:r>
            <a:endParaRPr sz="16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250" y="1455000"/>
            <a:ext cx="4092024" cy="34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82250" y="860150"/>
            <a:ext cx="40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Loyalty Grows, Acquisition Shrinks</a:t>
            </a:r>
            <a:endParaRPr/>
          </a:p>
        </p:txBody>
      </p:sp>
      <p:pic>
        <p:nvPicPr>
          <p:cNvPr id="2" name="Slide 3.m4a">
            <a:hlinkClick r:id="" action="ppaction://media"/>
            <a:extLst>
              <a:ext uri="{FF2B5EF4-FFF2-40B4-BE49-F238E27FC236}">
                <a16:creationId xmlns:a16="http://schemas.microsoft.com/office/drawing/2014/main" id="{68F5CC44-CF42-CE74-5252-48452CA638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216535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90" advClick="0" advTm="390"/>
    </mc:Choice>
    <mc:Fallback xmlns="">
      <p:transition advClick="0" advTm="3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96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315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AOV vs. Frequency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375" y="1381075"/>
            <a:ext cx="5092951" cy="32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87975"/>
            <a:ext cx="460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Spenders Are Buying Less Frequently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5356650" y="2233500"/>
            <a:ext cx="3595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High-AOV customers (~50%) spend big but order rarely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Opportunity to increase frequency.</a:t>
            </a:r>
            <a:endParaRPr/>
          </a:p>
        </p:txBody>
      </p:sp>
      <p:pic>
        <p:nvPicPr>
          <p:cNvPr id="2" name="Slide 4.m4a">
            <a:hlinkClick r:id="" action="ppaction://media"/>
            <a:extLst>
              <a:ext uri="{FF2B5EF4-FFF2-40B4-BE49-F238E27FC236}">
                <a16:creationId xmlns:a16="http://schemas.microsoft.com/office/drawing/2014/main" id="{E3B7954E-BB42-DF3A-D95E-586F71AFE8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216535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20" advClick="0" advTm="420"/>
    </mc:Choice>
    <mc:Fallback xmlns="">
      <p:transition advClick="0" advTm="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152400" y="370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Product Mix – Beverages &amp; Dairy</a:t>
            </a:r>
            <a:endParaRPr sz="250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980775" y="2027750"/>
            <a:ext cx="4124400" cy="16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Beverages &amp; Dairy lead sales, but cost data is missing — so profitability is unknown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45975"/>
            <a:ext cx="4879899" cy="35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52400" y="889675"/>
            <a:ext cx="48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Concentration in Beverages and Dairy</a:t>
            </a:r>
            <a:endParaRPr/>
          </a:p>
        </p:txBody>
      </p:sp>
      <p:pic>
        <p:nvPicPr>
          <p:cNvPr id="2" name="Slide 5.m4a">
            <a:hlinkClick r:id="" action="ppaction://media"/>
            <a:extLst>
              <a:ext uri="{FF2B5EF4-FFF2-40B4-BE49-F238E27FC236}">
                <a16:creationId xmlns:a16="http://schemas.microsoft.com/office/drawing/2014/main" id="{3612A1C0-51C8-7DF5-04E6-5EB98A9385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65600" y="216535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40" advClick="0" advTm="340"/>
    </mc:Choice>
    <mc:Fallback xmlns="">
      <p:transition advClick="0" advTm="3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152400" y="139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Seasonal Trends</a:t>
            </a:r>
            <a:endParaRPr sz="250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14250"/>
            <a:ext cx="5055975" cy="32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152400" y="778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Spike in Summer Months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5356675" y="15569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Consider using these months for promotions or new launches</a:t>
            </a:r>
            <a:endParaRPr/>
          </a:p>
        </p:txBody>
      </p:sp>
      <p:pic>
        <p:nvPicPr>
          <p:cNvPr id="3" name="Audio Recording Jul 8, 2025 at 8:10:34 PM">
            <a:hlinkClick r:id="" action="ppaction://media"/>
            <a:extLst>
              <a:ext uri="{FF2B5EF4-FFF2-40B4-BE49-F238E27FC236}">
                <a16:creationId xmlns:a16="http://schemas.microsoft.com/office/drawing/2014/main" id="{10937804-869B-4357-AC25-AF6B0C3530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50275" y="37185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60" advClick="0" advTm="260"/>
    </mc:Choice>
    <mc:Fallback xmlns="">
      <p:transition advClick="0" advTm="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152400" y="33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Sales by Region &amp; Category</a:t>
            </a:r>
            <a:endParaRPr sz="25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1100" y="1953559"/>
            <a:ext cx="5009650" cy="2995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275" y="1751575"/>
            <a:ext cx="3907825" cy="31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152404" y="605825"/>
            <a:ext cx="397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Preferences Vary by Product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152400" y="1071000"/>
            <a:ext cx="740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Localization potential exists for sales and marketing strategies</a:t>
            </a:r>
            <a:endParaRPr/>
          </a:p>
        </p:txBody>
      </p:sp>
      <p:pic>
        <p:nvPicPr>
          <p:cNvPr id="2" name="Audio Recording Jul 8, 2025 at 8:12:43 PM">
            <a:hlinkClick r:id="" action="ppaction://media"/>
            <a:extLst>
              <a:ext uri="{FF2B5EF4-FFF2-40B4-BE49-F238E27FC236}">
                <a16:creationId xmlns:a16="http://schemas.microsoft.com/office/drawing/2014/main" id="{965634B1-32EF-25FD-E806-E3FACAF0DF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61200" y="392188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90" advClick="0" advTm="290"/>
    </mc:Choice>
    <mc:Fallback xmlns="">
      <p:transition advClick="0" advTm="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242083" y="893641"/>
            <a:ext cx="4236600" cy="275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Customer Strategy Recommendations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Engage high-AOV customers with loyalty campaigns and bundles.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Revive new customer acquisition via digital marketing.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Understand churn and refine the funnel.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2" name="Audio Recording Jul 8, 2025 at 8:15:21 PM">
            <a:hlinkClick r:id="" action="ppaction://media"/>
            <a:extLst>
              <a:ext uri="{FF2B5EF4-FFF2-40B4-BE49-F238E27FC236}">
                <a16:creationId xmlns:a16="http://schemas.microsoft.com/office/drawing/2014/main" id="{5AE5DF1C-B2FB-5D77-9259-BA748C763B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24428" y="3972379"/>
            <a:ext cx="812800" cy="8128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47D7BA-8C2F-36A8-6718-ECCF4BEB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Recommendations – Customers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30" advClick="0" advTm="330"/>
    </mc:Choice>
    <mc:Fallback xmlns="">
      <p:transition advClick="0" advTm="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1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7689-ECE7-80DF-49CA-DDAFEE7F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Recommendations –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Google Shape;108;p20">
            <a:extLst>
              <a:ext uri="{FF2B5EF4-FFF2-40B4-BE49-F238E27FC236}">
                <a16:creationId xmlns:a16="http://schemas.microsoft.com/office/drawing/2014/main" id="{3B04865B-DF41-9118-F516-00F932669A70}"/>
              </a:ext>
            </a:extLst>
          </p:cNvPr>
          <p:cNvSpPr txBox="1"/>
          <p:nvPr/>
        </p:nvSpPr>
        <p:spPr>
          <a:xfrm>
            <a:off x="505326" y="1152475"/>
            <a:ext cx="6079958" cy="288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sz="1600" dirty="0">
                <a:solidFill>
                  <a:schemeClr val="dk1"/>
                </a:solidFill>
              </a:rPr>
              <a:t>Operational &amp; Profitability Recommendations</a:t>
            </a:r>
          </a:p>
          <a:p>
            <a:pPr marL="285750" lvl="0" indent="-285750">
              <a:lnSpc>
                <a:spcPct val="115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Implement Activity-Based Costing (ABC) to clarify product margins.</a:t>
            </a:r>
            <a:br>
              <a:rPr lang="en-US" sz="1600" dirty="0">
                <a:solidFill>
                  <a:schemeClr val="dk1"/>
                </a:solidFill>
              </a:rPr>
            </a:br>
            <a:endParaRPr lang="en-US" sz="1600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15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Localize product offerings by region.</a:t>
            </a:r>
            <a:br>
              <a:rPr lang="en-US" sz="1600" dirty="0">
                <a:solidFill>
                  <a:schemeClr val="dk1"/>
                </a:solidFill>
              </a:rPr>
            </a:br>
            <a:endParaRPr lang="en-US" sz="1600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15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Analyze seasonal category trends.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5" name="Audio Recording Jul 8, 2025 at 8:17:17 PM">
            <a:hlinkClick r:id="" action="ppaction://media"/>
            <a:extLst>
              <a:ext uri="{FF2B5EF4-FFF2-40B4-BE49-F238E27FC236}">
                <a16:creationId xmlns:a16="http://schemas.microsoft.com/office/drawing/2014/main" id="{3F638783-0DC9-4898-C4E3-8071F45DCE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19037" y="397510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2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80" advClick="0" advTm="380"/>
    </mc:Choice>
    <mc:Fallback xmlns="">
      <p:transition advClick="0" advTm="3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Final Takeaways &amp; Next Steps</a:t>
            </a:r>
            <a:endParaRPr sz="2500"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Strategic Takeaways &amp; Next Steps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Invest in both retention and acquisition.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ABC to prioritize profit, not just volume.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Tailor marketing and inventory by season and region.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2" name="Audio Recording Jul 8, 2025 at 8:20:37 PM">
            <a:hlinkClick r:id="" action="ppaction://media"/>
            <a:extLst>
              <a:ext uri="{FF2B5EF4-FFF2-40B4-BE49-F238E27FC236}">
                <a16:creationId xmlns:a16="http://schemas.microsoft.com/office/drawing/2014/main" id="{E1064795-1F92-194C-0767-46560837E9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93856" y="216535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Click="0" advTm="300"/>
    </mc:Choice>
    <mc:Fallback xmlns="">
      <p:transition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301</Words>
  <Application>Microsoft Macintosh PowerPoint</Application>
  <PresentationFormat>On-screen Show (16:9)</PresentationFormat>
  <Paragraphs>46</Paragraphs>
  <Slides>10</Slides>
  <Notes>9</Notes>
  <HiddenSlides>0</HiddenSlides>
  <MMClips>9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Northwind Traders – Data Analytics &amp; Visualization</vt:lpstr>
      <vt:lpstr>Executive Summary:</vt:lpstr>
      <vt:lpstr>Repeat vs. New Customers:</vt:lpstr>
      <vt:lpstr>AOV vs. Frequency</vt:lpstr>
      <vt:lpstr>Product Mix – Beverages &amp; Dairy</vt:lpstr>
      <vt:lpstr>Seasonal Trends</vt:lpstr>
      <vt:lpstr>Sales by Region &amp; Category</vt:lpstr>
      <vt:lpstr>Recommendations – Customers  </vt:lpstr>
      <vt:lpstr>Recommendations – Operations </vt:lpstr>
      <vt:lpstr>Final Takeaways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Anand Chamoli</cp:lastModifiedBy>
  <cp:revision>5</cp:revision>
  <dcterms:modified xsi:type="dcterms:W3CDTF">2026-06-07T07:00:39Z</dcterms:modified>
</cp:coreProperties>
</file>